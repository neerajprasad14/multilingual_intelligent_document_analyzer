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Relationship Id="rId17" Type="http://schemas.microsoft.com/office/2007/relationships/hdphoto" Target="../media/hdphoto1.wdp"/><Relationship Id="rId18" Type="http://schemas.openxmlformats.org/officeDocument/2006/relationships/image" Target="../media/image3.png"/><Relationship Id="rId19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83879" y="0"/>
            <a:ext cx="4008121" cy="6858000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640080"/>
            <a:ext cx="347472" cy="347472"/>
          </a:xfrm>
          <a:prstGeom prst="ellipse">
            <a:avLst/>
          </a:prstGeom>
          <a:solidFill>
            <a:srgbClr val="3CAA6E"/>
          </a:solidFill>
          <a:ln>
            <a:solidFill>
              <a:srgbClr val="3C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1554480"/>
            <a:ext cx="228600" cy="228600"/>
          </a:xfrm>
          <a:prstGeom prst="ellipse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0" y="2743200"/>
            <a:ext cx="228600" cy="2286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3657600"/>
            <a:ext cx="384048" cy="384048"/>
          </a:xfrm>
          <a:prstGeom prst="ellipse">
            <a:avLst/>
          </a:prstGeom>
          <a:solidFill>
            <a:srgbClr val="3CAA6E"/>
          </a:solidFill>
          <a:ln>
            <a:solidFill>
              <a:srgbClr val="3C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0" y="5120640"/>
            <a:ext cx="274320" cy="274320"/>
          </a:xfrm>
          <a:prstGeom prst="ellipse">
            <a:avLst/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9326880" y="914400"/>
            <a:ext cx="1005840" cy="82296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961120" y="914400"/>
            <a:ext cx="274320" cy="192024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098280" y="1783080"/>
            <a:ext cx="1325880" cy="1069848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52560" y="2926080"/>
            <a:ext cx="160020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052560" y="2926080"/>
            <a:ext cx="411480" cy="233172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9464040" y="3840480"/>
            <a:ext cx="1234440" cy="141732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658368"/>
            <a:ext cx="67665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74E0D7"/>
                </a:solidFill>
                <a:latin typeface="Aptos"/>
              </a:rPr>
              <a:t>M.TECH / MCA PROJECT REVIEW 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325880"/>
            <a:ext cx="6949440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Intelligent Document Analyzer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852928"/>
            <a:ext cx="66294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D2E1EB"/>
                </a:solidFill>
                <a:latin typeface="Aptos"/>
              </a:rPr>
              <a:t>Multilingual AI system for document understanding, extraction and structured insights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069080"/>
            <a:ext cx="2011680" cy="54864"/>
          </a:xfrm>
          <a:prstGeom prst="rect">
            <a:avLst/>
          </a:prstGeom>
          <a:solidFill>
            <a:srgbClr val="3CAA6E"/>
          </a:solidFill>
          <a:ln>
            <a:solidFill>
              <a:srgbClr val="3C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43400"/>
            <a:ext cx="4572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Team Member: ____________________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74920"/>
            <a:ext cx="5486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A8BECC"/>
                </a:solidFill>
                <a:latin typeface="Aptos"/>
              </a:rPr>
              <a:t>Knowledge Partner  |  Implementation Partner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754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09196"/>
                </a:solidFill>
                <a:latin typeface="Aptos"/>
              </a:rPr>
              <a:t>01 /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900" b="1">
                <a:solidFill>
                  <a:srgbClr val="0E1F35"/>
                </a:solidFill>
                <a:latin typeface="Aptos"/>
              </a:rPr>
              <a:t>Why intelligent document analysis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71600"/>
            <a:ext cx="104241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A6978"/>
                </a:solidFill>
                <a:latin typeface="Aptos"/>
              </a:rPr>
              <a:t>Organizations drown in documents—reports, invoices, contracts, forms—yet struggle to extract structured, actionable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54864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INTELLIGENT DOCUMENT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51920" y="6565392"/>
            <a:ext cx="3200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333756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82296" cy="2240280"/>
          </a:xfrm>
          <a:prstGeom prst="roundRect">
            <a:avLst>
              <a:gd name="adj" fmla="val 12000"/>
            </a:avLst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21408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Volume &amp; variety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532888"/>
            <a:ext cx="3017520" cy="1581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C2630"/>
                </a:solidFill>
                <a:latin typeface="Aptos"/>
              </a:rPr>
              <a:t>Documents arrive as PDFs, scans, images and office files in multiple languages and layouts.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965960"/>
            <a:ext cx="333756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1965960"/>
            <a:ext cx="82296" cy="2240280"/>
          </a:xfrm>
          <a:prstGeom prst="roundRect">
            <a:avLst>
              <a:gd name="adj" fmla="val 12000"/>
            </a:avLst>
          </a:prstGeom>
          <a:solidFill>
            <a:srgbClr val="3CAA6E"/>
          </a:solidFill>
          <a:ln>
            <a:solidFill>
              <a:srgbClr val="3C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121408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Manual extraction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532888"/>
            <a:ext cx="3017520" cy="1581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C2630"/>
                </a:solidFill>
                <a:latin typeface="Aptos"/>
              </a:rPr>
              <a:t>Human review is slow, inconsistent and error-prone, especially across languages.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965960"/>
            <a:ext cx="333756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0" y="1965960"/>
            <a:ext cx="82296" cy="2240280"/>
          </a:xfrm>
          <a:prstGeom prst="roundRect">
            <a:avLst>
              <a:gd name="adj" fmla="val 12000"/>
            </a:avLst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912" y="2121408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AI opportunity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2532888"/>
            <a:ext cx="3017520" cy="1581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C2630"/>
                </a:solidFill>
                <a:latin typeface="Aptos"/>
              </a:rPr>
              <a:t>OCR, NLP and LLMs can now read, understand and summarize documents at scale.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09160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9196"/>
                </a:solidFill>
                <a:latin typeface="Aptos"/>
              </a:rPr>
              <a:t>Project premise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4663440"/>
            <a:ext cx="8869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0E1F35"/>
                </a:solidFill>
                <a:latin typeface="Aptos"/>
              </a:rPr>
              <a:t>Build a multilingual, retrieval-augmented system that ingests documents, extracts entities and answers questions with citations.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754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09196"/>
                </a:solidFill>
                <a:latin typeface="Aptos"/>
              </a:rPr>
              <a:t>02 /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900" b="1">
                <a:solidFill>
                  <a:srgbClr val="0E1F35"/>
                </a:solidFill>
                <a:latin typeface="Aptos"/>
              </a:rPr>
              <a:t>From static files to queryable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71600"/>
            <a:ext cx="104241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A6978"/>
                </a:solidFill>
                <a:latin typeface="Aptos"/>
              </a:rPr>
              <a:t>Create an end-to-end document intelligence pipeline that turns uploads into structured insights.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54864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INTELLIGENT DOCUMENT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51920" y="6565392"/>
            <a:ext cx="3200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65960"/>
            <a:ext cx="2487168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965960"/>
            <a:ext cx="82296" cy="2560320"/>
          </a:xfrm>
          <a:prstGeom prst="roundRect">
            <a:avLst>
              <a:gd name="adj" fmla="val 12000"/>
            </a:avLst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21408"/>
            <a:ext cx="216712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532888"/>
            <a:ext cx="2167128" cy="1901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C2630"/>
                </a:solidFill>
                <a:latin typeface="Aptos"/>
              </a:rPr>
              <a:t>Accept PDFs, images, Office files and text with language detection.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1965960"/>
            <a:ext cx="2487168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02152" y="1965960"/>
            <a:ext cx="82296" cy="2560320"/>
          </a:xfrm>
          <a:prstGeom prst="roundRect">
            <a:avLst>
              <a:gd name="adj" fmla="val 12000"/>
            </a:avLst>
          </a:prstGeom>
          <a:solidFill>
            <a:srgbClr val="2D6EBE"/>
          </a:solidFill>
          <a:ln>
            <a:solidFill>
              <a:srgbClr val="2D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2464" y="2121408"/>
            <a:ext cx="216712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Understand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4" y="2532888"/>
            <a:ext cx="2167128" cy="1901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C2630"/>
                </a:solidFill>
                <a:latin typeface="Aptos"/>
              </a:rPr>
              <a:t>Run OCR, layout analysis and NLP to extract text, tables and entities.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18504" y="1965960"/>
            <a:ext cx="2487168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18504" y="1965960"/>
            <a:ext cx="82296" cy="2560320"/>
          </a:xfrm>
          <a:prstGeom prst="roundRect">
            <a:avLst>
              <a:gd name="adj" fmla="val 12000"/>
            </a:avLst>
          </a:prstGeom>
          <a:solidFill>
            <a:srgbClr val="3CAA6E"/>
          </a:solidFill>
          <a:ln>
            <a:solidFill>
              <a:srgbClr val="3C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8816" y="2121408"/>
            <a:ext cx="216712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Index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2532888"/>
            <a:ext cx="2167128" cy="1901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C2630"/>
                </a:solidFill>
                <a:latin typeface="Aptos"/>
              </a:rPr>
              <a:t>Store embeddings and metadata for fast semantic search and RAG.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34856" y="1965960"/>
            <a:ext cx="2487168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34856" y="1965960"/>
            <a:ext cx="82296" cy="2560320"/>
          </a:xfrm>
          <a:prstGeom prst="roundRect">
            <a:avLst>
              <a:gd name="adj" fmla="val 12000"/>
            </a:avLst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5168" y="2121408"/>
            <a:ext cx="216712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Interact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2532888"/>
            <a:ext cx="2167128" cy="1901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C2630"/>
                </a:solidFill>
                <a:latin typeface="Aptos"/>
              </a:rPr>
              <a:t>Enable natural-language queries with sourced, multilingual answers.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983480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9196"/>
                </a:solidFill>
                <a:latin typeface="Aptos"/>
              </a:rPr>
              <a:t>Success criteria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4846320"/>
            <a:ext cx="7955279" cy="64008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64"/>
              </a:spcAft>
              <a:defRPr sz="1500">
                <a:solidFill>
                  <a:srgbClr val="1C2630"/>
                </a:solidFill>
                <a:latin typeface="Aptos"/>
              </a:defRPr>
            </a:pPr>
            <a:r>
              <a:t>High OCR and entity extraction accuracy</a:t>
            </a:r>
          </a:p>
          <a:p>
            <a:pPr>
              <a:spcAft>
                <a:spcPts val="864"/>
              </a:spcAft>
              <a:defRPr sz="1500">
                <a:solidFill>
                  <a:srgbClr val="1C2630"/>
                </a:solidFill>
                <a:latin typeface="Aptos"/>
              </a:defRPr>
            </a:pPr>
            <a:r>
              <a:t>Low-latency semantic search</a:t>
            </a:r>
          </a:p>
          <a:p>
            <a:pPr>
              <a:spcAft>
                <a:spcPts val="864"/>
              </a:spcAft>
              <a:defRPr sz="1500">
                <a:solidFill>
                  <a:srgbClr val="1C2630"/>
                </a:solidFill>
                <a:latin typeface="Aptos"/>
              </a:defRPr>
            </a:pPr>
            <a:r>
              <a:t>Clear source citations in answers</a:t>
            </a:r>
          </a:p>
          <a:p>
            <a:pPr>
              <a:spcAft>
                <a:spcPts val="864"/>
              </a:spcAft>
              <a:defRPr sz="1500">
                <a:solidFill>
                  <a:srgbClr val="1C2630"/>
                </a:solidFill>
                <a:latin typeface="Aptos"/>
              </a:defRPr>
            </a:pPr>
            <a:r>
              <a:t>Support for major Indian and global languages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754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09196"/>
                </a:solidFill>
                <a:latin typeface="Aptos"/>
              </a:rPr>
              <a:t>03 /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900" b="1">
                <a:solidFill>
                  <a:srgbClr val="0E1F35"/>
                </a:solidFill>
                <a:latin typeface="Aptos"/>
              </a:rPr>
              <a:t>System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71600"/>
            <a:ext cx="104241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A6978"/>
                </a:solidFill>
                <a:latin typeface="Aptos"/>
              </a:rPr>
              <a:t>Specialized components work together to deliver reliable document intelligence.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54864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INTELLIGENT DOCUMENT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51920" y="6565392"/>
            <a:ext cx="3200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33375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82296" cy="1143000"/>
          </a:xfrm>
          <a:prstGeom prst="roundRect">
            <a:avLst>
              <a:gd name="adj" fmla="val 12000"/>
            </a:avLst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029967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Upload &amp;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41447"/>
            <a:ext cx="3017520" cy="4846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C2630"/>
                </a:solidFill>
                <a:latin typeface="Aptos"/>
              </a:rPr>
              <a:t>File validation, format conversion, language detection and text/OCR pipeline.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874519"/>
            <a:ext cx="33375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16552" y="1874519"/>
            <a:ext cx="82296" cy="1143000"/>
          </a:xfrm>
          <a:prstGeom prst="roundRect">
            <a:avLst>
              <a:gd name="adj" fmla="val 12000"/>
            </a:avLst>
          </a:prstGeom>
          <a:solidFill>
            <a:srgbClr val="2D6EBE"/>
          </a:solidFill>
          <a:ln>
            <a:solidFill>
              <a:srgbClr val="2D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29967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Layout &amp; Table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441447"/>
            <a:ext cx="3017520" cy="4846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C2630"/>
                </a:solidFill>
                <a:latin typeface="Aptos"/>
              </a:rPr>
              <a:t>Detect headings, paragraphs, lists, tables and reading order.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4" y="1874519"/>
            <a:ext cx="33375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47304" y="1874519"/>
            <a:ext cx="82296" cy="1143000"/>
          </a:xfrm>
          <a:prstGeom prst="roundRect">
            <a:avLst>
              <a:gd name="adj" fmla="val 12000"/>
            </a:avLst>
          </a:prstGeom>
          <a:solidFill>
            <a:srgbClr val="3CAA6E"/>
          </a:solidFill>
          <a:ln>
            <a:solidFill>
              <a:srgbClr val="3C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2029967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Entity &amp; Key-Value Extraction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441447"/>
            <a:ext cx="3017520" cy="4846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C2630"/>
                </a:solidFill>
                <a:latin typeface="Aptos"/>
              </a:rPr>
              <a:t>Extract entities, amounts, dates, parties and document-specific fields.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383279"/>
            <a:ext cx="33375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383279"/>
            <a:ext cx="82296" cy="1143000"/>
          </a:xfrm>
          <a:prstGeom prst="roundRect">
            <a:avLst>
              <a:gd name="adj" fmla="val 12000"/>
            </a:avLst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538727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Embedding &amp; Indexing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950207"/>
            <a:ext cx="3017520" cy="4846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C2630"/>
                </a:solidFill>
                <a:latin typeface="Aptos"/>
              </a:rPr>
              <a:t>Generate dense vectors and metadata for semantic search.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6552" y="3383279"/>
            <a:ext cx="33375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16552" y="3383279"/>
            <a:ext cx="82296" cy="1143000"/>
          </a:xfrm>
          <a:prstGeom prst="roundRect">
            <a:avLst>
              <a:gd name="adj" fmla="val 12000"/>
            </a:avLst>
          </a:prstGeom>
          <a:solidFill>
            <a:srgbClr val="8C5FBE"/>
          </a:solidFill>
          <a:ln>
            <a:solidFill>
              <a:srgbClr val="8C5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26864" y="3538727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RAG &amp; Answer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6864" y="3950207"/>
            <a:ext cx="3017520" cy="4846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C2630"/>
                </a:solidFill>
                <a:latin typeface="Aptos"/>
              </a:rPr>
              <a:t>Retrieve relevant passages and generate cited, multilingual answers.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47304" y="3383279"/>
            <a:ext cx="333756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47304" y="3383279"/>
            <a:ext cx="82296" cy="1143000"/>
          </a:xfrm>
          <a:prstGeom prst="roundRect">
            <a:avLst>
              <a:gd name="adj" fmla="val 12000"/>
            </a:avLst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7616" y="3538727"/>
            <a:ext cx="3017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Dashboard &amp;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6" y="3950207"/>
            <a:ext cx="3017520" cy="4846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C2630"/>
                </a:solidFill>
                <a:latin typeface="Aptos"/>
              </a:rPr>
              <a:t>Web UI and REST API for upload, search and Q&amp;A.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754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09196"/>
                </a:solidFill>
                <a:latin typeface="Aptos"/>
              </a:rPr>
              <a:t>04 /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900" b="1">
                <a:solidFill>
                  <a:srgbClr val="0E1F35"/>
                </a:solidFill>
                <a:latin typeface="Aptos"/>
              </a:rPr>
              <a:t>Modeling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71600"/>
            <a:ext cx="104241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A6978"/>
                </a:solidFill>
                <a:latin typeface="Aptos"/>
              </a:rPr>
              <a:t>A hybrid architecture: classical OCR and layout models, transformer embeddings and LLM-based reasoning.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54864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INTELLIGENT DOCUMENT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51920" y="6565392"/>
            <a:ext cx="3200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57400"/>
            <a:ext cx="1965960" cy="1417320"/>
          </a:xfrm>
          <a:prstGeom prst="roundRect">
            <a:avLst>
              <a:gd name="adj" fmla="val 12000"/>
            </a:avLst>
          </a:prstGeom>
          <a:solidFill>
            <a:srgbClr val="EFF7F7"/>
          </a:solidFill>
          <a:ln>
            <a:solidFill>
              <a:srgbClr val="D2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2212848"/>
            <a:ext cx="3840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9196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560320"/>
            <a:ext cx="1645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907792"/>
            <a:ext cx="1664208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PDF/image upload, format normalization, language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514600"/>
            <a:ext cx="2286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400" b="1">
                <a:solidFill>
                  <a:srgbClr val="009196"/>
                </a:solidFill>
                <a:latin typeface="Aptos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7208" y="2057400"/>
            <a:ext cx="1965960" cy="1417320"/>
          </a:xfrm>
          <a:prstGeom prst="roundRect">
            <a:avLst>
              <a:gd name="adj" fmla="val 12000"/>
            </a:avLst>
          </a:prstGeom>
          <a:solidFill>
            <a:srgbClr val="EFF7F7"/>
          </a:solidFill>
          <a:ln>
            <a:solidFill>
              <a:srgbClr val="D2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3512" y="2212848"/>
            <a:ext cx="3840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9196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2560320"/>
            <a:ext cx="1645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OCR &amp; Parse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2907792"/>
            <a:ext cx="1664208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Tesseract / PaddleOCR, layout detection, table 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514600"/>
            <a:ext cx="2286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400" b="1">
                <a:solidFill>
                  <a:srgbClr val="009196"/>
                </a:solidFill>
                <a:latin typeface="Apto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11496" y="2057400"/>
            <a:ext cx="1965960" cy="1417320"/>
          </a:xfrm>
          <a:prstGeom prst="roundRect">
            <a:avLst>
              <a:gd name="adj" fmla="val 12000"/>
            </a:avLst>
          </a:prstGeom>
          <a:solidFill>
            <a:srgbClr val="EFF7F7"/>
          </a:solidFill>
          <a:ln>
            <a:solidFill>
              <a:srgbClr val="D2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2212848"/>
            <a:ext cx="3840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9196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560320"/>
            <a:ext cx="1645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NLP &amp; 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2907792"/>
            <a:ext cx="1664208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NER, key-value extraction, section classification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2514600"/>
            <a:ext cx="2286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400" b="1">
                <a:solidFill>
                  <a:srgbClr val="009196"/>
                </a:solidFill>
                <a:latin typeface="Aptos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15784" y="2057400"/>
            <a:ext cx="1965960" cy="1417320"/>
          </a:xfrm>
          <a:prstGeom prst="roundRect">
            <a:avLst>
              <a:gd name="adj" fmla="val 12000"/>
            </a:avLst>
          </a:prstGeom>
          <a:solidFill>
            <a:srgbClr val="EFF7F7"/>
          </a:solidFill>
          <a:ln>
            <a:solidFill>
              <a:srgbClr val="D2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62088" y="2212848"/>
            <a:ext cx="3840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9196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2088" y="2560320"/>
            <a:ext cx="1645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Embed &amp;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2088" y="2907792"/>
            <a:ext cx="1664208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Multilingual sentence embeddings + vector 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54896" y="2514600"/>
            <a:ext cx="2286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400" b="1">
                <a:solidFill>
                  <a:srgbClr val="009196"/>
                </a:solidFill>
                <a:latin typeface="Aptos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20072" y="2057400"/>
            <a:ext cx="1965960" cy="1417320"/>
          </a:xfrm>
          <a:prstGeom prst="roundRect">
            <a:avLst>
              <a:gd name="adj" fmla="val 12000"/>
            </a:avLst>
          </a:prstGeom>
          <a:solidFill>
            <a:srgbClr val="EFF7F7"/>
          </a:solidFill>
          <a:ln>
            <a:solidFill>
              <a:srgbClr val="D2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66376" y="2212848"/>
            <a:ext cx="384048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009196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66376" y="2560320"/>
            <a:ext cx="16459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RAG &amp; Answer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66376" y="2907792"/>
            <a:ext cx="1664208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1C2630"/>
                </a:solidFill>
                <a:latin typeface="Aptos"/>
              </a:rPr>
              <a:t>Retrieve passages, generate answers with citations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251960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9196"/>
                </a:solidFill>
                <a:latin typeface="Aptos"/>
              </a:rPr>
              <a:t>Design principle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4206240"/>
            <a:ext cx="841248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100" b="1">
                <a:solidFill>
                  <a:srgbClr val="0E1F35"/>
                </a:solidFill>
                <a:latin typeface="Aptos"/>
              </a:rPr>
              <a:t>Deterministic extraction first; generative models only for summarization and Q&amp;A.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754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09196"/>
                </a:solidFill>
                <a:latin typeface="Aptos"/>
              </a:rPr>
              <a:t>05 /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900" b="1">
                <a:solidFill>
                  <a:srgbClr val="0E1F35"/>
                </a:solidFill>
                <a:latin typeface="Aptos"/>
              </a:rPr>
              <a:t>Data preprocessing &amp;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71600"/>
            <a:ext cx="104241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A6978"/>
                </a:solidFill>
                <a:latin typeface="Aptos"/>
              </a:rPr>
              <a:t>Document quality and language distribution drive system performance.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54864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INTELLIGENT DOCUMENT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51920" y="6565392"/>
            <a:ext cx="3200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3383280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82296" cy="2697480"/>
          </a:xfrm>
          <a:prstGeom prst="roundRect">
            <a:avLst>
              <a:gd name="adj" fmla="val 12000"/>
            </a:avLst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029967"/>
            <a:ext cx="30632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Document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41447"/>
            <a:ext cx="3063240" cy="20391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C2630"/>
                </a:solidFill>
                <a:latin typeface="Aptos"/>
              </a:rPr>
              <a:t>• Invoices, receipts, reports
• Contracts, forms, policies
• Scanned images and native PDFs
• Multilingual text (English, Hindi, Tamil, etc.)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874519"/>
            <a:ext cx="3383280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1874519"/>
            <a:ext cx="82296" cy="2697480"/>
          </a:xfrm>
          <a:prstGeom prst="roundRect">
            <a:avLst>
              <a:gd name="adj" fmla="val 12000"/>
            </a:avLst>
          </a:prstGeom>
          <a:solidFill>
            <a:srgbClr val="2D6EBE"/>
          </a:solidFill>
          <a:ln>
            <a:solidFill>
              <a:srgbClr val="2D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29967"/>
            <a:ext cx="30632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Preprocessing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441447"/>
            <a:ext cx="3063240" cy="20391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C2630"/>
                </a:solidFill>
                <a:latin typeface="Aptos"/>
              </a:rPr>
              <a:t>• Image denoising, deskew, binarization
• OCR with language-specific models
• Text normalization and cleaning
• PII detection and redaction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874519"/>
            <a:ext cx="3383280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83879" y="1874519"/>
            <a:ext cx="82296" cy="2697480"/>
          </a:xfrm>
          <a:prstGeom prst="roundRect">
            <a:avLst>
              <a:gd name="adj" fmla="val 12000"/>
            </a:avLst>
          </a:prstGeom>
          <a:solidFill>
            <a:srgbClr val="3CAA6E"/>
          </a:solidFill>
          <a:ln>
            <a:solidFill>
              <a:srgbClr val="3C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1" y="2029967"/>
            <a:ext cx="30632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0E1F35"/>
                </a:solidFill>
                <a:latin typeface="Aptos"/>
              </a:rPr>
              <a:t>EDA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1" y="2441447"/>
            <a:ext cx="3063240" cy="20391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C2630"/>
                </a:solidFill>
                <a:latin typeface="Aptos"/>
              </a:rPr>
              <a:t>• Language and script distribution?
• OCR confidence by document type?
• Common entity patterns and fields?
• Table density and structure?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074920"/>
            <a:ext cx="914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9196"/>
                </a:solidFill>
                <a:latin typeface="Aptos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029200"/>
            <a:ext cx="93268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0E1F35"/>
                </a:solidFill>
                <a:latin typeface="Aptos"/>
              </a:rPr>
              <a:t>A clean, labeled corpus with OCR text, layout tags, entity spans and metadata for training and evaluation.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754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09196"/>
                </a:solidFill>
                <a:latin typeface="Aptos"/>
              </a:rPr>
              <a:t>06 /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900" b="1">
                <a:solidFill>
                  <a:srgbClr val="0E1F35"/>
                </a:solidFill>
                <a:latin typeface="Aptos"/>
              </a:rPr>
              <a:t>Approach, algorithms &amp;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71600"/>
            <a:ext cx="104241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A6978"/>
                </a:solidFill>
                <a:latin typeface="Aptos"/>
              </a:rPr>
              <a:t>Choose robust, well-supported components for each stage of the pipeline.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54864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INTELLIGENT DOCUMENT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51920" y="6565392"/>
            <a:ext cx="3200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1828800" cy="512064"/>
          </a:xfrm>
          <a:prstGeom prst="roundRect">
            <a:avLst>
              <a:gd name="adj" fmla="val 12000"/>
            </a:avLst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38528"/>
            <a:ext cx="1554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OCR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920240"/>
            <a:ext cx="33832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E1F35"/>
                </a:solidFill>
                <a:latin typeface="Aptos"/>
              </a:rPr>
              <a:t>Tesseract, PaddleOCR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4754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C2630"/>
                </a:solidFill>
                <a:latin typeface="Aptos"/>
              </a:rPr>
              <a:t>Multilingual text extraction from images and scans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514600"/>
            <a:ext cx="1828800" cy="512064"/>
          </a:xfrm>
          <a:prstGeom prst="roundRect">
            <a:avLst>
              <a:gd name="adj" fmla="val 12000"/>
            </a:avLst>
          </a:prstGeom>
          <a:solidFill>
            <a:srgbClr val="2D6EBE"/>
          </a:solidFill>
          <a:ln>
            <a:solidFill>
              <a:srgbClr val="2D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24328"/>
            <a:ext cx="1554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Layout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606040"/>
            <a:ext cx="33832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E1F35"/>
                </a:solidFill>
                <a:latin typeface="Aptos"/>
              </a:rPr>
              <a:t>LayoutLMv2, table detectors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06040"/>
            <a:ext cx="4754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C2630"/>
                </a:solidFill>
                <a:latin typeface="Aptos"/>
              </a:rPr>
              <a:t>Detect sections, tables, lists and reading order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00400"/>
            <a:ext cx="1828800" cy="512064"/>
          </a:xfrm>
          <a:prstGeom prst="roundRect">
            <a:avLst>
              <a:gd name="adj" fmla="val 12000"/>
            </a:avLst>
          </a:prstGeom>
          <a:solidFill>
            <a:srgbClr val="3CAA6E"/>
          </a:solidFill>
          <a:ln>
            <a:solidFill>
              <a:srgbClr val="3C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310128"/>
            <a:ext cx="1554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Embeddings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291840"/>
            <a:ext cx="33832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E1F35"/>
                </a:solidFill>
                <a:latin typeface="Aptos"/>
              </a:rPr>
              <a:t>LaBSE, mUSE, multilingual E5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91840"/>
            <a:ext cx="4754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C2630"/>
                </a:solidFill>
                <a:latin typeface="Aptos"/>
              </a:rPr>
              <a:t>Cross-lingual semantic search and retrieval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886200"/>
            <a:ext cx="1828800" cy="512064"/>
          </a:xfrm>
          <a:prstGeom prst="roundRect">
            <a:avLst>
              <a:gd name="adj" fmla="val 12000"/>
            </a:avLst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995928"/>
            <a:ext cx="1554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LLM &amp; RAG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3977640"/>
            <a:ext cx="33832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E1F35"/>
                </a:solidFill>
                <a:latin typeface="Aptos"/>
              </a:rPr>
              <a:t>Open-source LLM + vector 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77640"/>
            <a:ext cx="4754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C2630"/>
                </a:solidFill>
                <a:latin typeface="Aptos"/>
              </a:rPr>
              <a:t>Grounded Q&amp;A with citations and language control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72000"/>
            <a:ext cx="1828800" cy="512064"/>
          </a:xfrm>
          <a:prstGeom prst="roundRect">
            <a:avLst>
              <a:gd name="adj" fmla="val 12000"/>
            </a:avLst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681728"/>
            <a:ext cx="1554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App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4663440"/>
            <a:ext cx="33832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E1F35"/>
                </a:solidFill>
                <a:latin typeface="Aptos"/>
              </a:rPr>
              <a:t>FastAPI, React/Streamlit, vector 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663440"/>
            <a:ext cx="4754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C2630"/>
                </a:solidFill>
                <a:latin typeface="Aptos"/>
              </a:rPr>
              <a:t>Scalable backend, responsive UI and search index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754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09196"/>
                </a:solidFill>
                <a:latin typeface="Aptos"/>
              </a:rPr>
              <a:t>07 /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900" b="1">
                <a:solidFill>
                  <a:srgbClr val="0E1F35"/>
                </a:solidFill>
                <a:latin typeface="Aptos"/>
              </a:rPr>
              <a:t>Project plan &amp;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71600"/>
            <a:ext cx="104241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A6978"/>
                </a:solidFill>
                <a:latin typeface="Aptos"/>
              </a:rPr>
              <a:t>Iterative development with clear validation at each stage.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54864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INTELLIGENT DOCUMENT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51920" y="6565392"/>
            <a:ext cx="3200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03120"/>
            <a:ext cx="1993392" cy="1463040"/>
          </a:xfrm>
          <a:prstGeom prst="roundRect">
            <a:avLst>
              <a:gd name="adj" fmla="val 12000"/>
            </a:avLst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1691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1645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Weeks 1–2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1645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Requirements, document types, languages, KPIs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98648" y="2103120"/>
            <a:ext cx="1993392" cy="1463040"/>
          </a:xfrm>
          <a:prstGeom prst="roundRect">
            <a:avLst>
              <a:gd name="adj" fmla="val 12000"/>
            </a:avLst>
          </a:prstGeom>
          <a:solidFill>
            <a:srgbClr val="2D6EBE"/>
          </a:solidFill>
          <a:ln>
            <a:solidFill>
              <a:srgbClr val="2D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2331720"/>
            <a:ext cx="1691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697480"/>
            <a:ext cx="1645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Weeks 3–5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063240"/>
            <a:ext cx="1645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OCR + basic extraction + simple search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02936" y="2103120"/>
            <a:ext cx="1993392" cy="1463040"/>
          </a:xfrm>
          <a:prstGeom prst="roundRect">
            <a:avLst>
              <a:gd name="adj" fmla="val 12000"/>
            </a:avLst>
          </a:prstGeom>
          <a:solidFill>
            <a:srgbClr val="3CAA6E"/>
          </a:solidFill>
          <a:ln>
            <a:solidFill>
              <a:srgbClr val="3C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0096" y="2331720"/>
            <a:ext cx="1691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2697480"/>
            <a:ext cx="1645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Weeks 6–8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3063240"/>
            <a:ext cx="1645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Layout analysis, RAG, multilingual Q&amp;A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07224" y="2103120"/>
            <a:ext cx="1993392" cy="1463040"/>
          </a:xfrm>
          <a:prstGeom prst="roundRect">
            <a:avLst>
              <a:gd name="adj" fmla="val 12000"/>
            </a:avLst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44384" y="2331720"/>
            <a:ext cx="1691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Evaluate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44384" y="2697480"/>
            <a:ext cx="1645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Weeks 9–10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4" y="3063240"/>
            <a:ext cx="1645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Accuracy, latency, usability and bias tests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11512" y="2103120"/>
            <a:ext cx="1993392" cy="1463040"/>
          </a:xfrm>
          <a:prstGeom prst="roundRect">
            <a:avLst>
              <a:gd name="adj" fmla="val 12000"/>
            </a:avLst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8672" y="2331720"/>
            <a:ext cx="1691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2697480"/>
            <a:ext cx="1645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Weeks 11–12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3063240"/>
            <a:ext cx="1645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Hardening, docs and final demo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343400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09196"/>
                </a:solidFill>
                <a:latin typeface="Aptos"/>
              </a:rPr>
              <a:t>Review gates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4224528"/>
            <a:ext cx="8595360" cy="9601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64"/>
              </a:spcAft>
              <a:defRPr sz="1500">
                <a:solidFill>
                  <a:srgbClr val="1C2630"/>
                </a:solidFill>
                <a:latin typeface="Aptos"/>
              </a:defRPr>
            </a:pPr>
            <a:r>
              <a:t>Gate 1: OCR and extraction baseline on sample corpus</a:t>
            </a:r>
          </a:p>
          <a:p>
            <a:pPr>
              <a:spcAft>
                <a:spcPts val="864"/>
              </a:spcAft>
              <a:defRPr sz="1500">
                <a:solidFill>
                  <a:srgbClr val="1C2630"/>
                </a:solidFill>
                <a:latin typeface="Aptos"/>
              </a:defRPr>
            </a:pPr>
            <a:r>
              <a:t>Gate 2: RAG answer quality and citation correctness</a:t>
            </a:r>
          </a:p>
          <a:p>
            <a:pPr>
              <a:spcAft>
                <a:spcPts val="864"/>
              </a:spcAft>
              <a:defRPr sz="1500">
                <a:solidFill>
                  <a:srgbClr val="1C2630"/>
                </a:solidFill>
                <a:latin typeface="Aptos"/>
              </a:defRPr>
            </a:pPr>
            <a:r>
              <a:t>Gate 3: End-to-end latency and deployment readiness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754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09196"/>
                </a:solidFill>
                <a:latin typeface="Aptos"/>
              </a:rPr>
              <a:t>08 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900" b="1">
                <a:solidFill>
                  <a:srgbClr val="0E1F35"/>
                </a:solidFill>
                <a:latin typeface="Aptos"/>
              </a:rPr>
              <a:t>Pipeline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71600"/>
            <a:ext cx="104241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A6978"/>
                </a:solidFill>
                <a:latin typeface="Aptos"/>
              </a:rPr>
              <a:t>A modular pipeline keeps extraction, indexing and reasoning cleanly separated.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54864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INTELLIGENT DOCUMENT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51920" y="6565392"/>
            <a:ext cx="3200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828800"/>
            <a:ext cx="10287000" cy="512064"/>
          </a:xfrm>
          <a:prstGeom prst="roundRect">
            <a:avLst>
              <a:gd name="adj" fmla="val 12000"/>
            </a:avLst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938528"/>
            <a:ext cx="1920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938528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Web UI • API • Chat interface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542032"/>
            <a:ext cx="10287000" cy="512064"/>
          </a:xfrm>
          <a:prstGeom prst="roundRect">
            <a:avLst>
              <a:gd name="adj" fmla="val 12000"/>
            </a:avLst>
          </a:prstGeom>
          <a:solidFill>
            <a:srgbClr val="3CAA6E"/>
          </a:solidFill>
          <a:ln>
            <a:solidFill>
              <a:srgbClr val="3C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651760"/>
            <a:ext cx="1920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RAG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65176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Retrieval • Re-ranking • Answer generation • Citations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255264"/>
            <a:ext cx="10287000" cy="512064"/>
          </a:xfrm>
          <a:prstGeom prst="roundRect">
            <a:avLst>
              <a:gd name="adj" fmla="val 12000"/>
            </a:avLst>
          </a:prstGeom>
          <a:solidFill>
            <a:srgbClr val="2D6EBE"/>
          </a:solidFill>
          <a:ln>
            <a:solidFill>
              <a:srgbClr val="2D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364992"/>
            <a:ext cx="1920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Intelligence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364992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OCR • Layout • NER • Embeddings • Language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968496"/>
            <a:ext cx="10287000" cy="512064"/>
          </a:xfrm>
          <a:prstGeom prst="roundRect">
            <a:avLst>
              <a:gd name="adj" fmla="val 12000"/>
            </a:avLst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078224"/>
            <a:ext cx="1920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Data &amp;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078224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Document store • Vector DB • Metadata • Auth &amp; logging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83480"/>
            <a:ext cx="102412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0E1F35"/>
                </a:solidFill>
                <a:latin typeface="Aptos"/>
              </a:rPr>
              <a:t>Every answer includes: retrieved passages → confidence → source document and page.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754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09196"/>
                </a:solidFill>
                <a:latin typeface="Aptos"/>
              </a:rPr>
              <a:t>09 /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900" b="1">
                <a:solidFill>
                  <a:srgbClr val="0E1F35"/>
                </a:solidFill>
                <a:latin typeface="Aptos"/>
              </a:rPr>
              <a:t>Evaluation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71600"/>
            <a:ext cx="104241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A6978"/>
                </a:solidFill>
                <a:latin typeface="Aptos"/>
              </a:rPr>
              <a:t>Measure extraction quality, retrieval relevance and answer usefulness.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54864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INTELLIGENT DOCUMENT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51920" y="6565392"/>
            <a:ext cx="3200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828800"/>
            <a:ext cx="2194560" cy="438912"/>
          </a:xfrm>
          <a:prstGeom prst="roundRect">
            <a:avLst>
              <a:gd name="adj" fmla="val 12000"/>
            </a:avLst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920240"/>
            <a:ext cx="182880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OCR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20240"/>
            <a:ext cx="73152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1C2630"/>
                </a:solidFill>
                <a:latin typeface="Aptos"/>
              </a:rPr>
              <a:t>Character error rate, word error rate by language and script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450592"/>
            <a:ext cx="2194560" cy="438912"/>
          </a:xfrm>
          <a:prstGeom prst="roundRect">
            <a:avLst>
              <a:gd name="adj" fmla="val 12000"/>
            </a:avLst>
          </a:prstGeom>
          <a:solidFill>
            <a:srgbClr val="2D6EBE"/>
          </a:solidFill>
          <a:ln>
            <a:solidFill>
              <a:srgbClr val="2D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542032"/>
            <a:ext cx="182880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42032"/>
            <a:ext cx="73152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1C2630"/>
                </a:solidFill>
                <a:latin typeface="Aptos"/>
              </a:rPr>
              <a:t>Entity F1, key-value accuracy, table structure match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072384"/>
            <a:ext cx="2194560" cy="438912"/>
          </a:xfrm>
          <a:prstGeom prst="roundRect">
            <a:avLst>
              <a:gd name="adj" fmla="val 12000"/>
            </a:avLst>
          </a:prstGeom>
          <a:solidFill>
            <a:srgbClr val="3CAA6E"/>
          </a:solidFill>
          <a:ln>
            <a:solidFill>
              <a:srgbClr val="3C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163824"/>
            <a:ext cx="182880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Retrieval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163824"/>
            <a:ext cx="73152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1C2630"/>
                </a:solidFill>
                <a:latin typeface="Aptos"/>
              </a:rPr>
              <a:t>Recall@k, MRR, latency and index size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694176"/>
            <a:ext cx="2194560" cy="438912"/>
          </a:xfrm>
          <a:prstGeom prst="roundRect">
            <a:avLst>
              <a:gd name="adj" fmla="val 12000"/>
            </a:avLst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3785616"/>
            <a:ext cx="182880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Answer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785616"/>
            <a:ext cx="73152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1C2630"/>
                </a:solidFill>
                <a:latin typeface="Aptos"/>
              </a:rPr>
              <a:t>Faithfulness, citation precision, user satisfaction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315968"/>
            <a:ext cx="2194560" cy="438912"/>
          </a:xfrm>
          <a:prstGeom prst="roundRect">
            <a:avLst>
              <a:gd name="adj" fmla="val 12000"/>
            </a:avLst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407408"/>
            <a:ext cx="182880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407408"/>
            <a:ext cx="73152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1C2630"/>
                </a:solidFill>
                <a:latin typeface="Aptos"/>
              </a:rPr>
              <a:t>End-to-end latency, throughput, cost per document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66360"/>
            <a:ext cx="1554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009196"/>
                </a:solidFill>
                <a:latin typeface="Aptos"/>
              </a:rPr>
              <a:t>North-star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5120640"/>
            <a:ext cx="7680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0E1F35"/>
                </a:solidFill>
                <a:latin typeface="Aptos"/>
              </a:rPr>
              <a:t>Correct, cited answers per minute at target latency and cost.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7548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009196"/>
                </a:solidFill>
                <a:latin typeface="Aptos"/>
              </a:rPr>
              <a:t>10 / 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900" b="1">
                <a:solidFill>
                  <a:srgbClr val="0E1F35"/>
                </a:solidFill>
                <a:latin typeface="Aptos"/>
              </a:rPr>
              <a:t>Risks &amp; safeguards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71600"/>
            <a:ext cx="104241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5A6978"/>
                </a:solidFill>
                <a:latin typeface="Aptos"/>
              </a:rPr>
              <a:t>Document intelligence must respect privacy, accuracy and accountability.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2000" cy="347472"/>
          </a:xfrm>
          <a:prstGeom prst="rect">
            <a:avLst/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54864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INTELLIGENT DOCUMENT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51920" y="6565392"/>
            <a:ext cx="3200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56232"/>
            <a:ext cx="274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EB9137"/>
                </a:solidFill>
                <a:latin typeface="Aptos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828800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E1F35"/>
                </a:solidFill>
                <a:latin typeface="Aptos"/>
              </a:rPr>
              <a:t>OCR errors &amp; hallucinations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828800"/>
            <a:ext cx="70408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C2630"/>
                </a:solidFill>
                <a:latin typeface="Aptos"/>
              </a:rPr>
              <a:t>Confidence thresholds, fallback to human review, clear uncertainty flags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78024"/>
            <a:ext cx="274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EB9137"/>
                </a:solidFill>
                <a:latin typeface="Aptos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50592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E1F35"/>
                </a:solidFill>
                <a:latin typeface="Aptos"/>
              </a:rPr>
              <a:t>Privacy &amp; PII leakage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50592"/>
            <a:ext cx="70408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C2630"/>
                </a:solidFill>
                <a:latin typeface="Aptos"/>
              </a:rPr>
              <a:t>Redaction, encryption, role-based access and retention policies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99816"/>
            <a:ext cx="274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EB9137"/>
                </a:solidFill>
                <a:latin typeface="Aptos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72384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E1F35"/>
                </a:solidFill>
                <a:latin typeface="Aptos"/>
              </a:rPr>
              <a:t>Bias across languages/scripts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072384"/>
            <a:ext cx="70408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C2630"/>
                </a:solidFill>
                <a:latin typeface="Aptos"/>
              </a:rPr>
              <a:t>Stratified evaluation, language-specific tuning and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21608"/>
            <a:ext cx="274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EB9137"/>
                </a:solidFill>
                <a:latin typeface="Aptos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694176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E1F35"/>
                </a:solidFill>
                <a:latin typeface="Aptos"/>
              </a:rPr>
              <a:t>Over-reliance on LLMs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3694176"/>
            <a:ext cx="70408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C2630"/>
                </a:solidFill>
                <a:latin typeface="Aptos"/>
              </a:rPr>
              <a:t>Ground answers in retrieved text, require citations, limit free-form 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43400"/>
            <a:ext cx="274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EB9137"/>
                </a:solidFill>
                <a:latin typeface="Aptos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315968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0E1F35"/>
                </a:solidFill>
                <a:latin typeface="Aptos"/>
              </a:rPr>
              <a:t>Security &amp; misuse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315968"/>
            <a:ext cx="70408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1C2630"/>
                </a:solidFill>
                <a:latin typeface="Aptos"/>
              </a:rPr>
              <a:t>Auth, audit logs, rate limits and abuse detection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166360"/>
            <a:ext cx="10149840" cy="438912"/>
          </a:xfrm>
          <a:prstGeom prst="roundRect">
            <a:avLst>
              <a:gd name="adj" fmla="val 12000"/>
            </a:avLst>
          </a:prstGeom>
          <a:solidFill>
            <a:srgbClr val="EFF7F7"/>
          </a:solidFill>
          <a:ln>
            <a:solidFill>
              <a:srgbClr val="EF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276088"/>
            <a:ext cx="97840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009196"/>
                </a:solidFill>
                <a:latin typeface="Aptos"/>
              </a:rPr>
              <a:t>Operating rule: if confidence is low or risk is high, the system asks—not acts.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3657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74E0D7"/>
                </a:solidFill>
                <a:latin typeface="Aptos"/>
              </a:rPr>
              <a:t>PROJECT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704088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Turn every document
into structured knowledge.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40"/>
            <a:ext cx="594360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200" b="0">
                <a:solidFill>
                  <a:srgbClr val="CCE1E6"/>
                </a:solidFill>
                <a:latin typeface="Aptos"/>
              </a:rPr>
              <a:t>First as parsed text and fields.
Then as queryable insights.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160520"/>
            <a:ext cx="2011680" cy="54864"/>
          </a:xfrm>
          <a:prstGeom prst="rect">
            <a:avLst/>
          </a:prstGeom>
          <a:solidFill>
            <a:srgbClr val="3CAA6E"/>
          </a:solidFill>
          <a:ln>
            <a:solidFill>
              <a:srgbClr val="3C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617720"/>
            <a:ext cx="27432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74920"/>
            <a:ext cx="3657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A8BECC"/>
                </a:solidFill>
                <a:latin typeface="Aptos"/>
              </a:rPr>
              <a:t>Questions &amp; discussion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75320" y="0"/>
            <a:ext cx="3916680" cy="6858000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0" y="914400"/>
            <a:ext cx="1828800" cy="320040"/>
          </a:xfrm>
          <a:prstGeom prst="roundRect">
            <a:avLst>
              <a:gd name="adj" fmla="val 12000"/>
            </a:avLst>
          </a:prstGeom>
          <a:solidFill>
            <a:srgbClr val="3CAA6E"/>
          </a:solidFill>
          <a:ln>
            <a:solidFill>
              <a:srgbClr val="3C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0" y="1645920"/>
            <a:ext cx="1371600" cy="320040"/>
          </a:xfrm>
          <a:prstGeom prst="roundRect">
            <a:avLst>
              <a:gd name="adj" fmla="val 12000"/>
            </a:avLst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32520" y="2560320"/>
            <a:ext cx="246888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72600" y="3474720"/>
            <a:ext cx="1737360" cy="320040"/>
          </a:xfrm>
          <a:prstGeom prst="roundRect">
            <a:avLst>
              <a:gd name="adj" fmla="val 12000"/>
            </a:avLst>
          </a:prstGeom>
          <a:solidFill>
            <a:srgbClr val="3CAA6E"/>
          </a:solidFill>
          <a:ln>
            <a:solidFill>
              <a:srgbClr val="3CA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69680" y="4389120"/>
            <a:ext cx="2194560" cy="320040"/>
          </a:xfrm>
          <a:prstGeom prst="roundRect">
            <a:avLst>
              <a:gd name="adj" fmla="val 12000"/>
            </a:avLst>
          </a:prstGeom>
          <a:solidFill>
            <a:srgbClr val="EB9137"/>
          </a:solidFill>
          <a:ln>
            <a:solidFill>
              <a:srgbClr val="EB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5303520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AI  ×  DOCUMENTS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181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HARI PRASATH</cp:lastModifiedBy>
  <cp:revision>12</cp:revision>
  <dcterms:created xsi:type="dcterms:W3CDTF">2024-05-13T10:33:11Z</dcterms:created>
  <dcterms:modified xsi:type="dcterms:W3CDTF">2025-09-20T12:01:52Z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